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8" r:id="rId9"/>
    <p:sldId id="264" r:id="rId10"/>
    <p:sldId id="263" r:id="rId11"/>
    <p:sldId id="265" r:id="rId12"/>
    <p:sldId id="262" r:id="rId13"/>
    <p:sldId id="266" r:id="rId14"/>
    <p:sldId id="267" r:id="rId15"/>
    <p:sldId id="269" r:id="rId16"/>
    <p:sldId id="270" r:id="rId17"/>
    <p:sldId id="271" r:id="rId18"/>
    <p:sldId id="272" r:id="rId19"/>
    <p:sldId id="273" r:id="rId20"/>
    <p:sldId id="275" r:id="rId21"/>
    <p:sldId id="274"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724" y="-68"/>
      </p:cViewPr>
      <p:guideLst>
        <p:guide orient="horz" pos="2160"/>
        <p:guide pos="381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C43F8F5-4763-4C94-B25B-37D302718B1A}"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C43F8F5-4763-4C94-B25B-37D302718B1A}"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3F8F5-4763-4C94-B25B-37D302718B1A}"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43F8F5-4763-4C94-B25B-37D302718B1A}"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30E1E2-8974-4D98-95F1-A29BBBC0E4D9}"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960" y="0"/>
            <a:ext cx="9144000" cy="2387600"/>
          </a:xfrm>
        </p:spPr>
        <p:txBody>
          <a:bodyPr>
            <a:normAutofit/>
          </a:bodyPr>
          <a:lstStyle/>
          <a:p>
            <a:r>
              <a:rPr lang="en-US" sz="2000" dirty="0"/>
              <a:t>                   AI FAQ Assistant API  </a:t>
            </a:r>
            <a:br>
              <a:rPr lang="en-US" sz="2000" dirty="0"/>
            </a:br>
            <a:br>
              <a:rPr lang="en-US" sz="2000" dirty="0"/>
            </a:br>
            <a:r>
              <a:rPr lang="en-US" sz="2000" dirty="0"/>
              <a:t>            </a:t>
            </a:r>
            <a:r>
              <a:rPr lang="en-US" sz="2000" dirty="0" smtClean="0"/>
              <a:t>TEAM </a:t>
            </a:r>
            <a:r>
              <a:rPr lang="en-US" sz="2000" dirty="0"/>
              <a:t>LEADER  </a:t>
            </a:r>
            <a:r>
              <a:rPr lang="en-IN" altLang="en-US" sz="2000" dirty="0"/>
              <a:t>: P DHANUSHIYA</a:t>
            </a:r>
            <a:br>
              <a:rPr lang="en-US" sz="2000" dirty="0"/>
            </a:br>
            <a:r>
              <a:rPr lang="en-US" sz="2000" dirty="0"/>
              <a:t>     TEAM MEMBER : </a:t>
            </a:r>
            <a:r>
              <a:rPr lang="en-US" sz="2000" dirty="0" smtClean="0"/>
              <a:t>1.</a:t>
            </a:r>
            <a:r>
              <a:rPr lang="en-IN" altLang="en-US" sz="2000" dirty="0" smtClean="0"/>
              <a:t>S DEVAGI</a:t>
            </a:r>
            <a:br>
              <a:rPr lang="en-US" sz="2000" dirty="0"/>
            </a:br>
            <a:r>
              <a:rPr lang="en-US" sz="2000" dirty="0"/>
              <a:t>  </a:t>
            </a:r>
            <a:r>
              <a:rPr lang="en-US" sz="2000" dirty="0" smtClean="0"/>
              <a:t> </a:t>
            </a:r>
            <a:r>
              <a:rPr lang="en-IN" altLang="en-US" sz="2000" dirty="0" smtClean="0"/>
              <a:t>       </a:t>
            </a:r>
            <a:r>
              <a:rPr lang="en-US" sz="2000" dirty="0" smtClean="0"/>
              <a:t>TEAM </a:t>
            </a:r>
            <a:r>
              <a:rPr lang="en-US" sz="2000" dirty="0"/>
              <a:t>MEMBER : </a:t>
            </a:r>
            <a:r>
              <a:rPr lang="en-US" sz="2000" dirty="0" smtClean="0"/>
              <a:t>2.</a:t>
            </a:r>
            <a:r>
              <a:rPr lang="en-IN" altLang="en-US" sz="2000" dirty="0" smtClean="0"/>
              <a:t>C DHARANI</a:t>
            </a:r>
            <a:br>
              <a:rPr lang="en-US" sz="2000" dirty="0"/>
            </a:br>
            <a:r>
              <a:rPr lang="en-US" sz="2000" dirty="0"/>
              <a:t>             </a:t>
            </a:r>
            <a:r>
              <a:rPr lang="en-US" sz="2000" dirty="0" smtClean="0"/>
              <a:t>TEAM </a:t>
            </a:r>
            <a:r>
              <a:rPr lang="en-US" sz="2000" dirty="0"/>
              <a:t>MEMBER : </a:t>
            </a:r>
            <a:r>
              <a:rPr lang="en-US" sz="2000" dirty="0" smtClean="0"/>
              <a:t>3.</a:t>
            </a:r>
            <a:r>
              <a:rPr lang="en-IN" altLang="en-US" sz="2000" dirty="0" smtClean="0"/>
              <a:t>S DHARANYA</a:t>
            </a:r>
            <a:br>
              <a:rPr lang="en-US" sz="2000" dirty="0"/>
            </a:br>
            <a:r>
              <a:rPr lang="en-US" sz="2000" dirty="0"/>
              <a:t>   </a:t>
            </a:r>
            <a:r>
              <a:rPr lang="en-US" sz="2000" dirty="0" smtClean="0"/>
              <a:t>  </a:t>
            </a:r>
            <a:r>
              <a:rPr lang="en-US" sz="2000" dirty="0"/>
              <a:t> </a:t>
            </a:r>
            <a:r>
              <a:rPr lang="en-IN" altLang="en-US" sz="2000" dirty="0"/>
              <a:t>        </a:t>
            </a:r>
            <a:r>
              <a:rPr lang="en-US" sz="2000" dirty="0" smtClean="0"/>
              <a:t>TEAM </a:t>
            </a:r>
            <a:r>
              <a:rPr lang="en-US" sz="2000" dirty="0"/>
              <a:t>MEMBER : </a:t>
            </a:r>
            <a:r>
              <a:rPr lang="en-US" sz="2000" dirty="0" smtClean="0"/>
              <a:t>4.</a:t>
            </a:r>
            <a:r>
              <a:rPr lang="en-IN" altLang="en-US" sz="2000" dirty="0" smtClean="0"/>
              <a:t>R DHARSHIKA</a:t>
            </a:r>
            <a:endParaRPr lang="en-IN" altLang="en-US" sz="2000" dirty="0" smtClean="0"/>
          </a:p>
        </p:txBody>
      </p:sp>
      <p:sp>
        <p:nvSpPr>
          <p:cNvPr id="3" name="Subtitle 2"/>
          <p:cNvSpPr>
            <a:spLocks noGrp="1"/>
          </p:cNvSpPr>
          <p:nvPr>
            <p:ph type="subTitle" idx="1"/>
          </p:nvPr>
        </p:nvSpPr>
        <p:spPr>
          <a:xfrm>
            <a:off x="1332271" y="2768918"/>
            <a:ext cx="9447847" cy="3188309"/>
          </a:xfrm>
        </p:spPr>
        <p:txBody>
          <a:bodyPr vert="horz" lIns="91440" tIns="45720" rIns="91440" bIns="45720" rtlCol="0" anchor="t">
            <a:normAutofit fontScale="92500" lnSpcReduction="20000"/>
          </a:bodyPr>
          <a:lstStyle/>
          <a:p>
            <a:pPr algn="l"/>
            <a:r>
              <a:rPr lang="en-US" sz="2000" b="1" dirty="0"/>
              <a:t>PROJECT TITLE:</a:t>
            </a:r>
            <a:endParaRPr lang="en-US" sz="2000" b="1" dirty="0"/>
          </a:p>
          <a:p>
            <a:r>
              <a:rPr lang="en-US" sz="2000" b="1" dirty="0"/>
              <a:t>AI FAQ ASSITANT:FASTER,SMARTER,CUSTOMER SUPPORT</a:t>
            </a:r>
            <a:endParaRPr lang="en-US" sz="2000" b="1" dirty="0"/>
          </a:p>
          <a:p>
            <a:pPr algn="l"/>
            <a:r>
              <a:rPr lang="en-IN" b="1" dirty="0"/>
              <a:t>Description:</a:t>
            </a:r>
            <a:endParaRPr lang="en-IN" b="1" dirty="0"/>
          </a:p>
          <a:p>
            <a:pPr algn="l"/>
            <a:r>
              <a:rPr lang="en-IN" b="1" dirty="0"/>
              <a:t>                   </a:t>
            </a:r>
            <a:r>
              <a:rPr lang="en-IN" sz="1900" b="1" dirty="0"/>
              <a:t> </a:t>
            </a:r>
            <a:r>
              <a:rPr lang="en-IN" sz="1900" dirty="0"/>
              <a:t>The </a:t>
            </a:r>
            <a:r>
              <a:rPr lang="en-IN" sz="1900" b="1" dirty="0"/>
              <a:t>AI FAQ Assistant: Faster, Smarter Customer Support</a:t>
            </a:r>
            <a:r>
              <a:rPr lang="en-IN" sz="1900" dirty="0"/>
              <a:t> is an intelligent customer-support system that uses Artificial Intelligence and Natural Language Processing (NLP) to understand customer questions and provide quick, accurate, and relevant answers. It automates responses to frequently asked questions, reducing the workload of support staff and improving response time. The system can be trained using FAQs, product details, policies, and other support information, enabling customers to receive instant assistance 24/7. This project aims to make customer service faster, more efficient, accessible, and user-friendly while allowing human agents to focus on complex customer issues.</a:t>
            </a:r>
            <a:endParaRPr lang="en-IN" sz="1900" dirty="0"/>
          </a:p>
          <a:p>
            <a:pPr algn="l"/>
            <a:endParaRPr lang="en-IN"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30476" y="983224"/>
            <a:ext cx="8947355" cy="5355312"/>
          </a:xfrm>
          <a:prstGeom prst="rect">
            <a:avLst/>
          </a:prstGeom>
          <a:noFill/>
        </p:spPr>
        <p:txBody>
          <a:bodyPr wrap="square">
            <a:spAutoFit/>
          </a:bodyPr>
          <a:lstStyle/>
          <a:p>
            <a:pPr rtl="0">
              <a:buNone/>
            </a:pPr>
            <a:r>
              <a:rPr lang="en-IN"/>
              <a:t>        </a:t>
            </a:r>
            <a:r>
              <a:rPr lang="en-IN" b="1"/>
              <a:t>SCENARIO BASED CASE STUDY:</a:t>
            </a:r>
            <a:endParaRPr lang="en-IN" b="1"/>
          </a:p>
          <a:p>
            <a:pPr rtl="0">
              <a:buNone/>
            </a:pPr>
            <a:endParaRPr lang="en-IN" b="1"/>
          </a:p>
          <a:p>
            <a:r>
              <a:rPr lang="en-IN"/>
              <a:t>                 </a:t>
            </a:r>
            <a:r>
              <a:rPr lang="en-IN" b="1"/>
              <a:t>Background:</a:t>
            </a:r>
            <a:endParaRPr lang="en-IN" b="1"/>
          </a:p>
          <a:p>
            <a:r>
              <a:rPr lang="en-IN"/>
              <a:t>A large e-commerce company receives a high volume of customer queries every day regarding orders, delivery, returns, refunds, payments, and product information. Most of these questions are repetitive and require customer-support employees to provide the same information repeatedly.</a:t>
            </a:r>
            <a:endParaRPr lang="en-IN"/>
          </a:p>
          <a:p>
            <a:r>
              <a:rPr lang="en-IN" b="1"/>
              <a:t>Problem:</a:t>
            </a:r>
            <a:endParaRPr lang="en-IN" b="1"/>
          </a:p>
          <a:p>
            <a:r>
              <a:rPr lang="en-IN"/>
              <a:t>Customers often have to wait for support because of the large number of queries. Support employees spend valuable time handling simple and frequently asked questions, which reduces their ability to focus on complex customer issues. The company needs a faster and more efficient way to handle routine queries.</a:t>
            </a:r>
            <a:endParaRPr lang="en-IN"/>
          </a:p>
          <a:p>
            <a:r>
              <a:rPr lang="en-IN" b="1"/>
              <a:t>Solution:</a:t>
            </a:r>
            <a:endParaRPr lang="en-IN" b="1"/>
          </a:p>
          <a:p>
            <a:r>
              <a:rPr lang="en-IN"/>
              <a:t>The company introduces an </a:t>
            </a:r>
            <a:r>
              <a:rPr lang="en-IN" b="1"/>
              <a:t>AI FAQ Assistant</a:t>
            </a:r>
            <a:r>
              <a:rPr lang="en-IN"/>
              <a:t> that uses Artificial Intelligence and Natural Language Processing (NLP) to understand customer questions and provide relevant answers automatically. The assistant uses a knowledge base containing FAQs, product information, company policies, and support instructions. If the AI cannot resolve a complex query, it transfers the customer to a human support agent.</a:t>
            </a:r>
            <a:endParaRPr lang="en-IN"/>
          </a:p>
          <a:p>
            <a:pPr algn="just" rtl="0">
              <a:buNone/>
            </a:pP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8296" y="972656"/>
            <a:ext cx="9242323" cy="4247317"/>
          </a:xfrm>
          <a:prstGeom prst="rect">
            <a:avLst/>
          </a:prstGeom>
          <a:noFill/>
        </p:spPr>
        <p:txBody>
          <a:bodyPr wrap="square">
            <a:spAutoFit/>
          </a:bodyPr>
          <a:lstStyle/>
          <a:p>
            <a:r>
              <a:rPr lang="en-IN" sz="1800" b="1" dirty="0"/>
              <a:t>Usage:</a:t>
            </a:r>
            <a:endParaRPr lang="en-IN" sz="1800" b="1" dirty="0"/>
          </a:p>
          <a:p>
            <a:endParaRPr lang="en-IN" sz="1800" b="1" dirty="0"/>
          </a:p>
          <a:p>
            <a:r>
              <a:rPr lang="en-IN" sz="1800" dirty="0"/>
              <a:t>Customers can interact with the AI Assistant through the company's website or application. For example, a customer may ask, </a:t>
            </a:r>
            <a:r>
              <a:rPr lang="en-IN" sz="1800" b="1" dirty="0"/>
              <a:t>“How can I return my order?”</a:t>
            </a:r>
            <a:r>
              <a:rPr lang="en-IN" sz="1800" dirty="0"/>
              <a:t> The assistant identifies the question and provides the return procedure immediately. It can also answer questions about order tracking, delivery time, refunds, cancellations, payment methods, and product information.</a:t>
            </a:r>
            <a:endParaRPr lang="en-IN" sz="1800" dirty="0"/>
          </a:p>
          <a:p>
            <a:endParaRPr lang="en-IN" sz="1800" dirty="0"/>
          </a:p>
          <a:p>
            <a:r>
              <a:rPr lang="en-IN" sz="1800" b="1" dirty="0"/>
              <a:t>Outcome:</a:t>
            </a:r>
            <a:endParaRPr lang="en-IN" sz="1800" b="1" dirty="0"/>
          </a:p>
          <a:p>
            <a:endParaRPr lang="en-IN" sz="1800" b="1" dirty="0"/>
          </a:p>
          <a:p>
            <a:r>
              <a:rPr lang="en-IN" sz="1800" dirty="0"/>
              <a:t>The AI FAQ Assistant provides </a:t>
            </a:r>
            <a:r>
              <a:rPr lang="en-IN" sz="1800" b="1" dirty="0"/>
              <a:t>24/7 customer support</a:t>
            </a:r>
            <a:r>
              <a:rPr lang="en-IN" sz="1800" dirty="0"/>
              <a:t>, reduces response time, and decreases the workload of customer-support employees. Customers receive quick answers to common questions, while human agents can focus on more complicated problems. Overall, the system improves support efficiency and creates a faster and more convenient customer experience.</a:t>
            </a:r>
            <a:endParaRPr lang="en-IN"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8026" y="317230"/>
            <a:ext cx="6096000" cy="1292662"/>
          </a:xfrm>
          <a:prstGeom prst="rect">
            <a:avLst/>
          </a:prstGeom>
          <a:noFill/>
        </p:spPr>
        <p:txBody>
          <a:bodyPr wrap="square">
            <a:spAutoFit/>
          </a:bodyPr>
          <a:lstStyle/>
          <a:p>
            <a:pPr indent="0" algn="l" rtl="0">
              <a:buNone/>
            </a:pPr>
            <a:r>
              <a:rPr lang="en-IN" b="1" i="0">
                <a:solidFill>
                  <a:schemeClr val="tx1"/>
                </a:solidFill>
                <a:effectLst/>
                <a:latin typeface="+mn-lt"/>
              </a:rPr>
              <a:t>Software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Operating System: Windows 10/11, Linux, or macOS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Programming Language: Python</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Frontend: HTML, CSS, JavaScript / React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Backend: Python Flask or Django</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Database: MySQL / MongoDB</a:t>
            </a:r>
            <a:endParaRPr lang="en-IN" sz="1200" b="0" i="0">
              <a:solidFill>
                <a:srgbClr val="0D0D0D"/>
              </a:solidFill>
              <a:effectLst/>
              <a:latin typeface="-apple-system-body"/>
            </a:endParaRPr>
          </a:p>
        </p:txBody>
      </p:sp>
      <p:sp>
        <p:nvSpPr>
          <p:cNvPr id="5" name="TextBox 4"/>
          <p:cNvSpPr txBox="1"/>
          <p:nvPr/>
        </p:nvSpPr>
        <p:spPr>
          <a:xfrm>
            <a:off x="1288026" y="2329001"/>
            <a:ext cx="6096000" cy="1477328"/>
          </a:xfrm>
          <a:prstGeom prst="rect">
            <a:avLst/>
          </a:prstGeom>
          <a:noFill/>
        </p:spPr>
        <p:txBody>
          <a:bodyPr wrap="square">
            <a:spAutoFit/>
          </a:bodyPr>
          <a:lstStyle/>
          <a:p>
            <a:pPr indent="0" algn="l" rtl="0">
              <a:buNone/>
            </a:pPr>
            <a:r>
              <a:rPr lang="en-IN" b="1" i="0">
                <a:solidFill>
                  <a:schemeClr val="tx1"/>
                </a:solidFill>
                <a:effectLst/>
                <a:latin typeface="+mn-lt"/>
              </a:rPr>
              <a:t>Hardware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Processor: Intel Core i3 or equivalent and above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RAM: Minimum 4 GB, recommended 8 GB</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Storage: Minimum 10 GB of free space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Display: 1366 × 768 resolution or higher</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Keyboard and Mouse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Internet Connectivity: Wi-Fi or Ethernet</a:t>
            </a:r>
            <a:endParaRPr lang="en-IN" sz="1200" b="0" i="0">
              <a:solidFill>
                <a:srgbClr val="0D0D0D"/>
              </a:solidFill>
              <a:effectLst/>
              <a:latin typeface="-apple-system-bod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0" y="912622"/>
            <a:ext cx="6096000" cy="5355312"/>
          </a:xfrm>
          <a:prstGeom prst="rect">
            <a:avLst/>
          </a:prstGeom>
          <a:noFill/>
        </p:spPr>
        <p:txBody>
          <a:bodyPr wrap="square">
            <a:spAutoFit/>
          </a:bodyPr>
          <a:lstStyle/>
          <a:p>
            <a:r>
              <a:rPr lang="en-IN" b="1"/>
              <a:t>Epic 1: PROJECT ARCHITECTURE</a:t>
            </a:r>
            <a:endParaRPr lang="en-IN" b="1"/>
          </a:p>
          <a:p>
            <a:r>
              <a:rPr lang="en-IN"/>
              <a:t> USER</a:t>
            </a:r>
            <a:endParaRPr lang="en-IN"/>
          </a:p>
          <a:p>
            <a:r>
              <a:rPr lang="en-IN"/>
              <a:t>          ↓</a:t>
            </a:r>
            <a:endParaRPr lang="en-IN"/>
          </a:p>
          <a:p>
            <a:r>
              <a:rPr lang="en-IN"/>
              <a:t>   Chat Interface</a:t>
            </a:r>
            <a:endParaRPr lang="en-IN"/>
          </a:p>
          <a:p>
            <a:r>
              <a:rPr lang="en-IN"/>
              <a:t>          ↓</a:t>
            </a:r>
            <a:endParaRPr lang="en-IN"/>
          </a:p>
          <a:p>
            <a:r>
              <a:rPr lang="en-IN"/>
              <a:t>    Backend Server</a:t>
            </a:r>
            <a:endParaRPr lang="en-IN"/>
          </a:p>
          <a:p>
            <a:r>
              <a:rPr lang="en-IN"/>
              <a:t>          ↓</a:t>
            </a:r>
            <a:endParaRPr lang="en-IN"/>
          </a:p>
          <a:p>
            <a:r>
              <a:rPr lang="en-IN"/>
              <a:t>   Query Processing</a:t>
            </a:r>
            <a:endParaRPr lang="en-IN"/>
          </a:p>
          <a:p>
            <a:r>
              <a:rPr lang="en-IN"/>
              <a:t>          ↓</a:t>
            </a:r>
            <a:endParaRPr lang="en-IN"/>
          </a:p>
          <a:p>
            <a:r>
              <a:rPr lang="en-IN"/>
              <a:t>   NLP / AI Engine</a:t>
            </a:r>
            <a:endParaRPr lang="en-IN"/>
          </a:p>
          <a:p>
            <a:r>
              <a:rPr lang="en-IN"/>
              <a:t>          ↓</a:t>
            </a:r>
            <a:endParaRPr lang="en-IN"/>
          </a:p>
          <a:p>
            <a:r>
              <a:rPr lang="en-IN"/>
              <a:t>   FAQ Knowledge Base</a:t>
            </a:r>
            <a:endParaRPr lang="en-IN"/>
          </a:p>
          <a:p>
            <a:r>
              <a:rPr lang="en-IN"/>
              <a:t>          ↓</a:t>
            </a:r>
            <a:endParaRPr lang="en-IN"/>
          </a:p>
          <a:p>
            <a:r>
              <a:rPr lang="en-IN"/>
              <a:t>   Answer Generation</a:t>
            </a:r>
            <a:endParaRPr lang="en-IN"/>
          </a:p>
          <a:p>
            <a:r>
              <a:rPr lang="en-IN"/>
              <a:t>          ↓</a:t>
            </a:r>
            <a:endParaRPr lang="en-IN"/>
          </a:p>
          <a:p>
            <a:r>
              <a:rPr lang="en-IN"/>
              <a:t>    Response to User</a:t>
            </a:r>
            <a:endParaRPr lang="en-IN"/>
          </a:p>
          <a:p>
            <a:r>
              <a:rPr lang="en-IN"/>
              <a:t>          ↓</a:t>
            </a:r>
            <a:endParaRPr lang="en-IN"/>
          </a:p>
          <a:p>
            <a:r>
              <a:rPr lang="en-IN"/>
              <a:t>   Human Support Agent</a:t>
            </a:r>
            <a:endParaRPr lang="en-IN"/>
          </a:p>
          <a:p>
            <a:r>
              <a:rPr lang="en-IN"/>
              <a:t>   (if required)</a:t>
            </a: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60206" y="450698"/>
            <a:ext cx="8170606" cy="4247317"/>
          </a:xfrm>
          <a:prstGeom prst="rect">
            <a:avLst/>
          </a:prstGeom>
          <a:noFill/>
        </p:spPr>
        <p:txBody>
          <a:bodyPr wrap="square">
            <a:spAutoFit/>
          </a:bodyPr>
          <a:lstStyle/>
          <a:p>
            <a:pPr marL="0" marR="0" indent="0" algn="l" rtl="0">
              <a:buNone/>
            </a:pPr>
            <a:r>
              <a:rPr lang="en-IN" b="1" i="0">
                <a:solidFill>
                  <a:schemeClr val="tx1"/>
                </a:solidFill>
                <a:effectLst/>
                <a:latin typeface="+mn-lt"/>
              </a:rPr>
              <a:t>Main Components</a:t>
            </a:r>
            <a:endParaRPr lang="en-IN" b="1"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User Interface:</a:t>
            </a:r>
            <a:r>
              <a:rPr lang="en-IN" b="0" i="0">
                <a:solidFill>
                  <a:schemeClr val="tx1"/>
                </a:solidFill>
                <a:effectLst/>
                <a:latin typeface="+mn-lt"/>
              </a:rPr>
              <a:t> Allows customers to enter questions and view responses.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Backend Server:</a:t>
            </a:r>
            <a:r>
              <a:rPr lang="en-IN" b="0" i="0">
                <a:solidFill>
                  <a:schemeClr val="tx1"/>
                </a:solidFill>
                <a:effectLst/>
                <a:latin typeface="+mn-lt"/>
              </a:rPr>
              <a:t> Receives user queries and manages communication between the system components.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NLP/AI Engine:</a:t>
            </a:r>
            <a:r>
              <a:rPr lang="en-IN" b="0" i="0">
                <a:solidFill>
                  <a:schemeClr val="tx1"/>
                </a:solidFill>
                <a:effectLst/>
                <a:latin typeface="+mn-lt"/>
              </a:rPr>
              <a:t> Understands the user's question and identifies its intent.</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FAQ Knowledge Base:</a:t>
            </a:r>
            <a:r>
              <a:rPr lang="en-IN" b="0" i="0">
                <a:solidFill>
                  <a:schemeClr val="tx1"/>
                </a:solidFill>
                <a:effectLst/>
                <a:latin typeface="+mn-lt"/>
              </a:rPr>
              <a:t> Stores frequently asked questions, answers, product details, policies, and support information.</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Response Generation:</a:t>
            </a:r>
            <a:r>
              <a:rPr lang="en-IN" b="0" i="0">
                <a:solidFill>
                  <a:schemeClr val="tx1"/>
                </a:solidFill>
                <a:effectLst/>
                <a:latin typeface="+mn-lt"/>
              </a:rPr>
              <a:t> Selects or generates the most relevant answer based on the user's query.</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Human Support Module:</a:t>
            </a:r>
            <a:r>
              <a:rPr lang="en-IN" b="0" i="0">
                <a:solidFill>
                  <a:schemeClr val="tx1"/>
                </a:solidFill>
                <a:effectLst/>
                <a:latin typeface="+mn-lt"/>
              </a:rPr>
              <a:t> Transfers unanswered or complex queries to a customer-support representative.</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Database:</a:t>
            </a:r>
            <a:r>
              <a:rPr lang="en-IN" b="0" i="0">
                <a:solidFill>
                  <a:schemeClr val="tx1"/>
                </a:solidFill>
                <a:effectLst/>
                <a:latin typeface="+mn-lt"/>
              </a:rPr>
              <a:t> Stores FAQ data, conversation information, and system-related records.</a:t>
            </a:r>
            <a:endParaRPr lang="en-IN" b="0" i="0">
              <a:solidFill>
                <a:schemeClr val="tx1"/>
              </a:solidFill>
              <a:effectLst/>
              <a:latin typeface="+mn-lt"/>
            </a:endParaRPr>
          </a:p>
          <a:p>
            <a:pPr>
              <a:buNone/>
            </a:pPr>
            <a:br>
              <a:rPr lang="en-IN"/>
            </a:b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952500" y="0"/>
            <a:ext cx="10287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5639" y="263775"/>
            <a:ext cx="6096000" cy="553998"/>
          </a:xfrm>
          <a:prstGeom prst="rect">
            <a:avLst/>
          </a:prstGeom>
          <a:noFill/>
        </p:spPr>
        <p:txBody>
          <a:bodyPr wrap="square">
            <a:spAutoFit/>
          </a:bodyPr>
          <a:lstStyle/>
          <a:p>
            <a:pPr indent="0" algn="l" rtl="0">
              <a:buNone/>
            </a:pPr>
            <a:r>
              <a:rPr lang="en-IN" b="1" i="0">
                <a:solidFill>
                  <a:schemeClr val="tx1"/>
                </a:solidFill>
                <a:effectLst/>
                <a:latin typeface="+mn-lt"/>
              </a:rPr>
              <a:t>Key Structural Mappings</a:t>
            </a:r>
            <a:endParaRPr lang="en-IN" b="1" i="0">
              <a:solidFill>
                <a:schemeClr val="tx1"/>
              </a:solidFill>
              <a:effectLst/>
              <a:latin typeface="+mn-lt"/>
            </a:endParaRPr>
          </a:p>
          <a:p>
            <a:pPr indent="0" algn="l" rtl="0">
              <a:buNone/>
            </a:pPr>
            <a:r>
              <a:rPr lang="en-IN" sz="1800" b="0" i="0">
                <a:solidFill>
                  <a:schemeClr val="tx1"/>
                </a:solidFill>
                <a:effectLst/>
                <a:latin typeface="+mn-lt"/>
              </a:rPr>
              <a:t>For the </a:t>
            </a:r>
            <a:r>
              <a:rPr lang="en-IN" sz="1800" b="1" i="0">
                <a:solidFill>
                  <a:schemeClr val="tx1"/>
                </a:solidFill>
                <a:effectLst/>
                <a:latin typeface="+mn-lt"/>
              </a:rPr>
              <a:t>AI FAQ Assistant</a:t>
            </a:r>
            <a:r>
              <a:rPr lang="en-IN" sz="1800" b="0" i="0">
                <a:solidFill>
                  <a:schemeClr val="tx1"/>
                </a:solidFill>
                <a:effectLst/>
                <a:latin typeface="+mn-lt"/>
              </a:rPr>
              <a:t>, the key structural mappings are:</a:t>
            </a:r>
            <a:endParaRPr lang="en-IN" sz="1200" b="0" i="0">
              <a:solidFill>
                <a:srgbClr val="0D0D0D"/>
              </a:solidFill>
              <a:effectLst/>
              <a:latin typeface="-apple-system-body"/>
            </a:endParaRPr>
          </a:p>
        </p:txBody>
      </p:sp>
      <p:graphicFrame>
        <p:nvGraphicFramePr>
          <p:cNvPr id="6" name="Table 5"/>
          <p:cNvGraphicFramePr>
            <a:graphicFrameLocks noGrp="1"/>
          </p:cNvGraphicFramePr>
          <p:nvPr/>
        </p:nvGraphicFramePr>
        <p:xfrm>
          <a:off x="1953342" y="1203960"/>
          <a:ext cx="8127999" cy="330200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r>
                        <a:rPr lang="en-US"/>
                        <a:t>              Entity</a:t>
                      </a:r>
                      <a:endParaRPr lang="en-IN"/>
                    </a:p>
                  </a:txBody>
                  <a:tcPr/>
                </a:tc>
                <a:tc>
                  <a:txBody>
                    <a:bodyPr/>
                    <a:lstStyle/>
                    <a:p>
                      <a:r>
                        <a:rPr lang="en-US"/>
                        <a:t>         Key </a:t>
                      </a:r>
                      <a:r>
                        <a:rPr lang="en-US" err="1"/>
                        <a:t>atrributes</a:t>
                      </a:r>
                      <a:endParaRPr lang="en-IN"/>
                    </a:p>
                  </a:txBody>
                  <a:tcPr/>
                </a:tc>
                <a:tc>
                  <a:txBody>
                    <a:bodyPr/>
                    <a:lstStyle/>
                    <a:p>
                      <a:pPr algn="ctr"/>
                      <a:r>
                        <a:rPr lang="en-US" err="1"/>
                        <a:t>Relatoinship</a:t>
                      </a:r>
                      <a:endParaRPr lang="en-IN"/>
                    </a:p>
                  </a:txBody>
                  <a:tcPr/>
                </a:tc>
              </a:tr>
              <a:tr h="370840">
                <a:tc>
                  <a:txBody>
                    <a:bodyPr/>
                    <a:lstStyle/>
                    <a:p>
                      <a:r>
                        <a:rPr lang="en-US"/>
                        <a:t>             User</a:t>
                      </a:r>
                      <a:endParaRPr lang="en-US"/>
                    </a:p>
                  </a:txBody>
                  <a:tcPr/>
                </a:tc>
                <a:tc>
                  <a:txBody>
                    <a:bodyPr/>
                    <a:lstStyle/>
                    <a:p>
                      <a:r>
                        <a:rPr lang="en-US" err="1"/>
                        <a:t>User_id</a:t>
                      </a:r>
                      <a:r>
                        <a:rPr lang="en-US"/>
                        <a:t>(PK),</a:t>
                      </a:r>
                      <a:r>
                        <a:rPr lang="en-US" err="1"/>
                        <a:t>name,email</a:t>
                      </a:r>
                      <a:endParaRPr lang="en-IN"/>
                    </a:p>
                  </a:txBody>
                  <a:tcPr/>
                </a:tc>
                <a:tc>
                  <a:txBody>
                    <a:bodyPr/>
                    <a:lstStyle/>
                    <a:p>
                      <a:r>
                        <a:rPr lang="en-US"/>
                        <a:t>User submit Queries</a:t>
                      </a:r>
                      <a:endParaRPr lang="en-IN"/>
                    </a:p>
                  </a:txBody>
                  <a:tcPr/>
                </a:tc>
              </a:tr>
              <a:tr h="370840">
                <a:tc>
                  <a:txBody>
                    <a:bodyPr/>
                    <a:lstStyle/>
                    <a:p>
                      <a:r>
                        <a:rPr lang="en-US"/>
                        <a:t>          Query</a:t>
                      </a:r>
                      <a:endParaRPr lang="en-US"/>
                    </a:p>
                  </a:txBody>
                  <a:tcPr/>
                </a:tc>
                <a:tc>
                  <a:txBody>
                    <a:bodyPr/>
                    <a:lstStyle/>
                    <a:p>
                      <a:r>
                        <a:rPr lang="en-US" err="1"/>
                        <a:t>Query_id</a:t>
                      </a:r>
                      <a:r>
                        <a:rPr lang="en-US"/>
                        <a:t>(PK),</a:t>
                      </a:r>
                      <a:r>
                        <a:rPr lang="en-US" err="1"/>
                        <a:t>user_id</a:t>
                      </a:r>
                      <a:r>
                        <a:rPr lang="en-US"/>
                        <a:t>(FK),question</a:t>
                      </a:r>
                      <a:endParaRPr lang="en-US"/>
                    </a:p>
                  </a:txBody>
                  <a:tcPr/>
                </a:tc>
                <a:tc>
                  <a:txBody>
                    <a:bodyPr/>
                    <a:lstStyle/>
                    <a:p>
                      <a:r>
                        <a:rPr lang="en-US"/>
                        <a:t>Query belongs to a User</a:t>
                      </a:r>
                      <a:endParaRPr lang="en-IN"/>
                    </a:p>
                  </a:txBody>
                  <a:tcPr/>
                </a:tc>
              </a:tr>
              <a:tr h="370840">
                <a:tc>
                  <a:txBody>
                    <a:bodyPr/>
                    <a:lstStyle/>
                    <a:p>
                      <a:r>
                        <a:rPr lang="en-US"/>
                        <a:t>          FAQ</a:t>
                      </a:r>
                      <a:endParaRPr lang="en-IN"/>
                    </a:p>
                  </a:txBody>
                  <a:tcPr/>
                </a:tc>
                <a:tc>
                  <a:txBody>
                    <a:bodyPr/>
                    <a:lstStyle/>
                    <a:p>
                      <a:r>
                        <a:rPr lang="en-US" err="1"/>
                        <a:t>Faq_id</a:t>
                      </a:r>
                      <a:r>
                        <a:rPr lang="en-US"/>
                        <a:t>(PK),</a:t>
                      </a:r>
                      <a:r>
                        <a:rPr lang="en-US" err="1"/>
                        <a:t>question,answer</a:t>
                      </a:r>
                      <a:endParaRPr lang="en-US"/>
                    </a:p>
                  </a:txBody>
                  <a:tcPr/>
                </a:tc>
                <a:tc>
                  <a:txBody>
                    <a:bodyPr/>
                    <a:lstStyle/>
                    <a:p>
                      <a:r>
                        <a:rPr lang="en-US"/>
                        <a:t>Query is matched with FAQ</a:t>
                      </a:r>
                      <a:endParaRPr lang="en-IN"/>
                    </a:p>
                  </a:txBody>
                  <a:tcPr/>
                </a:tc>
              </a:tr>
              <a:tr h="370840">
                <a:tc>
                  <a:txBody>
                    <a:bodyPr/>
                    <a:lstStyle/>
                    <a:p>
                      <a:r>
                        <a:rPr lang="en-US"/>
                        <a:t>       Response</a:t>
                      </a:r>
                      <a:endParaRPr lang="en-IN"/>
                    </a:p>
                  </a:txBody>
                  <a:tcPr/>
                </a:tc>
                <a:tc>
                  <a:txBody>
                    <a:bodyPr/>
                    <a:lstStyle/>
                    <a:p>
                      <a:r>
                        <a:rPr lang="en-US" err="1"/>
                        <a:t>Response_id</a:t>
                      </a:r>
                      <a:r>
                        <a:rPr lang="en-US"/>
                        <a:t>(PK),</a:t>
                      </a:r>
                      <a:r>
                        <a:rPr lang="en-US" err="1"/>
                        <a:t>query_id</a:t>
                      </a:r>
                      <a:r>
                        <a:rPr lang="en-US"/>
                        <a:t>(FK),answer</a:t>
                      </a:r>
                      <a:endParaRPr lang="en-IN"/>
                    </a:p>
                  </a:txBody>
                  <a:tcPr/>
                </a:tc>
                <a:tc>
                  <a:txBody>
                    <a:bodyPr/>
                    <a:lstStyle/>
                    <a:p>
                      <a:r>
                        <a:rPr lang="en-US"/>
                        <a:t>Response is generated for Query</a:t>
                      </a:r>
                      <a:endParaRPr lang="en-IN"/>
                    </a:p>
                  </a:txBody>
                  <a:tcPr/>
                </a:tc>
              </a:tr>
              <a:tr h="370840">
                <a:tc>
                  <a:txBody>
                    <a:bodyPr/>
                    <a:lstStyle/>
                    <a:p>
                      <a:r>
                        <a:rPr lang="en-US"/>
                        <a:t>       Support Agent</a:t>
                      </a:r>
                      <a:endParaRPr lang="en-IN"/>
                    </a:p>
                  </a:txBody>
                  <a:tcPr/>
                </a:tc>
                <a:tc>
                  <a:txBody>
                    <a:bodyPr/>
                    <a:lstStyle/>
                    <a:p>
                      <a:r>
                        <a:rPr lang="en-US" err="1"/>
                        <a:t>Agent_id</a:t>
                      </a:r>
                      <a:r>
                        <a:rPr lang="en-US"/>
                        <a:t>(PK),name</a:t>
                      </a:r>
                      <a:endParaRPr lang="en-IN"/>
                    </a:p>
                  </a:txBody>
                  <a:tcPr/>
                </a:tc>
                <a:tc>
                  <a:txBody>
                    <a:bodyPr/>
                    <a:lstStyle/>
                    <a:p>
                      <a:r>
                        <a:rPr lang="en-US"/>
                        <a:t>Agent handles unresolved Queries</a:t>
                      </a:r>
                      <a:endParaRPr lang="en-IN"/>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540774" y="91143"/>
            <a:ext cx="11051458" cy="2585323"/>
          </a:xfrm>
          <a:prstGeom prst="rect">
            <a:avLst/>
          </a:prstGeom>
          <a:noFill/>
        </p:spPr>
        <p:txBody>
          <a:bodyPr wrap="square">
            <a:spAutoFit/>
          </a:bodyPr>
          <a:lstStyle/>
          <a:p>
            <a:r>
              <a:rPr lang="en-IN" b="1"/>
              <a:t>Key Features:</a:t>
            </a:r>
            <a:endParaRPr lang="en-IN" b="1"/>
          </a:p>
          <a:p>
            <a:r>
              <a:rPr lang="en-IN" b="1"/>
              <a:t>        AI-Powered Responses</a:t>
            </a:r>
            <a:r>
              <a:rPr lang="en-IN"/>
              <a:t> – Automatically understands customer questions and provides relevant answers.</a:t>
            </a:r>
            <a:endParaRPr lang="en-IN"/>
          </a:p>
          <a:p>
            <a:pPr lvl="0"/>
            <a:r>
              <a:rPr lang="en-IN" b="1"/>
              <a:t>       24/7 Availability</a:t>
            </a:r>
            <a:r>
              <a:rPr lang="en-IN"/>
              <a:t> – Provides customer support at any time.</a:t>
            </a:r>
            <a:endParaRPr lang="en-IN"/>
          </a:p>
          <a:p>
            <a:pPr lvl="0"/>
            <a:r>
              <a:rPr lang="en-IN" b="1"/>
              <a:t>       Natural Language Processing</a:t>
            </a:r>
            <a:r>
              <a:rPr lang="en-IN"/>
              <a:t> – Understands questions written in normal human language.</a:t>
            </a:r>
            <a:endParaRPr lang="en-IN"/>
          </a:p>
          <a:p>
            <a:pPr lvl="0"/>
            <a:r>
              <a:rPr lang="en-IN" b="1"/>
              <a:t>        Instant FAQ Search</a:t>
            </a:r>
            <a:r>
              <a:rPr lang="en-IN"/>
              <a:t> – Quickly searches the FAQ knowledge base for suitable answers.</a:t>
            </a:r>
            <a:endParaRPr lang="en-IN"/>
          </a:p>
          <a:p>
            <a:pPr lvl="0"/>
            <a:r>
              <a:rPr lang="en-IN" b="1"/>
              <a:t>       User-Friendly Chat Interface</a:t>
            </a:r>
            <a:r>
              <a:rPr lang="en-IN"/>
              <a:t> – Allows customers to interact easily through a simple chat system.</a:t>
            </a:r>
            <a:endParaRPr lang="en-IN"/>
          </a:p>
          <a:p>
            <a:pPr lvl="0"/>
            <a:r>
              <a:rPr lang="en-IN" b="1"/>
              <a:t>       Human Agent Support</a:t>
            </a:r>
            <a:r>
              <a:rPr lang="en-IN"/>
              <a:t> – Transfers complex or unanswered queries to a support agent.</a:t>
            </a:r>
            <a:endParaRPr lang="en-IN"/>
          </a:p>
          <a:p>
            <a:br>
              <a:rPr lang="en-IN"/>
            </a:br>
            <a:endParaRPr lang="en-IN"/>
          </a:p>
        </p:txBody>
      </p:sp>
      <p:sp>
        <p:nvSpPr>
          <p:cNvPr id="16" name="TextBox 15"/>
          <p:cNvSpPr txBox="1"/>
          <p:nvPr/>
        </p:nvSpPr>
        <p:spPr>
          <a:xfrm>
            <a:off x="540774" y="2403310"/>
            <a:ext cx="6096000" cy="369332"/>
          </a:xfrm>
          <a:prstGeom prst="rect">
            <a:avLst/>
          </a:prstGeom>
          <a:noFill/>
        </p:spPr>
        <p:txBody>
          <a:bodyPr wrap="square">
            <a:spAutoFit/>
          </a:bodyPr>
          <a:lstStyle/>
          <a:p>
            <a:pPr indent="0" algn="l" rtl="0">
              <a:buNone/>
            </a:pPr>
            <a:r>
              <a:rPr lang="en-IN" b="1" i="0">
                <a:solidFill>
                  <a:schemeClr val="tx1"/>
                </a:solidFill>
                <a:effectLst/>
                <a:latin typeface="+mn-lt"/>
              </a:rPr>
              <a:t>Roles and Responsibilities</a:t>
            </a:r>
            <a:endParaRPr lang="en-IN" b="1" i="0">
              <a:solidFill>
                <a:srgbClr val="0D0D0D"/>
              </a:solidFill>
              <a:effectLst/>
              <a:latin typeface="-apple-system-body"/>
            </a:endParaRPr>
          </a:p>
        </p:txBody>
      </p:sp>
      <p:sp>
        <p:nvSpPr>
          <p:cNvPr id="18" name="TextBox 17"/>
          <p:cNvSpPr txBox="1"/>
          <p:nvPr/>
        </p:nvSpPr>
        <p:spPr>
          <a:xfrm>
            <a:off x="1140541" y="2847962"/>
            <a:ext cx="6213987" cy="1507727"/>
          </a:xfrm>
          <a:prstGeom prst="rect">
            <a:avLst/>
          </a:prstGeom>
          <a:noFill/>
        </p:spPr>
        <p:txBody>
          <a:bodyPr wrap="square">
            <a:spAutoFit/>
          </a:bodyPr>
          <a:lstStyle/>
          <a:p>
            <a:pPr indent="0" algn="l" rtl="0">
              <a:buNone/>
            </a:pPr>
            <a:r>
              <a:rPr lang="en-IN" b="1" i="0">
                <a:solidFill>
                  <a:schemeClr val="tx1"/>
                </a:solidFill>
                <a:effectLst/>
                <a:latin typeface="+mn-lt"/>
              </a:rPr>
              <a:t>1. Admin</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and update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Add, edit, and delete FAQ questions and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Monitor system performance and user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support-agent information.</a:t>
            </a:r>
            <a:endParaRPr lang="en-IN" sz="1200" b="0" i="0">
              <a:solidFill>
                <a:srgbClr val="0D0D0D"/>
              </a:solidFill>
              <a:effectLst/>
              <a:latin typeface="-apple-system-body"/>
            </a:endParaRPr>
          </a:p>
        </p:txBody>
      </p:sp>
      <p:sp>
        <p:nvSpPr>
          <p:cNvPr id="20" name="TextBox 19"/>
          <p:cNvSpPr txBox="1"/>
          <p:nvPr/>
        </p:nvSpPr>
        <p:spPr>
          <a:xfrm>
            <a:off x="1140541" y="4355689"/>
            <a:ext cx="6096000" cy="1107996"/>
          </a:xfrm>
          <a:prstGeom prst="rect">
            <a:avLst/>
          </a:prstGeom>
          <a:noFill/>
        </p:spPr>
        <p:txBody>
          <a:bodyPr wrap="square">
            <a:spAutoFit/>
          </a:bodyPr>
          <a:lstStyle/>
          <a:p>
            <a:pPr indent="0" algn="l" rtl="0">
              <a:buNone/>
            </a:pPr>
            <a:r>
              <a:rPr lang="en-IN" b="1" i="0">
                <a:solidFill>
                  <a:schemeClr val="tx1"/>
                </a:solidFill>
                <a:effectLst/>
                <a:latin typeface="+mn-lt"/>
              </a:rPr>
              <a:t>2. User / Customer</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Enter questions through the AI chat interface.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View AI-generated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Submit follow-up questions.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Contact a support agent when required.</a:t>
            </a:r>
            <a:endParaRPr lang="en-IN" sz="1200" b="0" i="0">
              <a:solidFill>
                <a:srgbClr val="0D0D0D"/>
              </a:solidFill>
              <a:effectLst/>
              <a:latin typeface="-apple-system-bod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130020"/>
            <a:ext cx="8573729" cy="3416320"/>
          </a:xfrm>
          <a:prstGeom prst="rect">
            <a:avLst/>
          </a:prstGeom>
          <a:noFill/>
        </p:spPr>
        <p:txBody>
          <a:bodyPr wrap="square">
            <a:spAutoFit/>
          </a:bodyPr>
          <a:lstStyle/>
          <a:p>
            <a:pPr indent="0" algn="l" rtl="0">
              <a:buNone/>
            </a:pPr>
            <a:r>
              <a:rPr lang="en-IN" b="1" i="0">
                <a:solidFill>
                  <a:schemeClr val="tx1"/>
                </a:solidFill>
                <a:effectLst/>
                <a:latin typeface="+mn-lt"/>
              </a:rPr>
              <a:t>3. AI Assistant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Understand user queries using NLP.</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the user's intent.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Search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Generate relevant responses.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unanswered or complex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Forward complex queries to a human support agent</a:t>
            </a:r>
            <a:endParaRPr lang="en-IN" sz="1800" b="0" i="0">
              <a:solidFill>
                <a:schemeClr val="tx1"/>
              </a:solidFill>
              <a:effectLst/>
              <a:latin typeface="+mn-lt"/>
            </a:endParaRPr>
          </a:p>
          <a:p>
            <a:pPr indent="0" algn="l" rtl="0">
              <a:buNone/>
            </a:pPr>
            <a:r>
              <a:rPr lang="en-IN" b="1" i="0">
                <a:solidFill>
                  <a:schemeClr val="tx1"/>
                </a:solidFill>
                <a:effectLst/>
                <a:latin typeface="+mn-lt"/>
              </a:rPr>
              <a:t>4. Support Agent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Handle queries that cannot be resolved by the AI.</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Provide personalized solutions to customers.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Review unresolved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Update the FAQ knowledge base with useful new information.</a:t>
            </a:r>
            <a:endParaRPr lang="en-IN" sz="1200" b="0" i="0">
              <a:solidFill>
                <a:srgbClr val="0D0D0D"/>
              </a:solidFill>
              <a:effectLst/>
              <a:latin typeface="-apple-system-body"/>
            </a:endParaRPr>
          </a:p>
        </p:txBody>
      </p:sp>
      <p:sp>
        <p:nvSpPr>
          <p:cNvPr id="7" name="TextBox 6"/>
          <p:cNvSpPr txBox="1"/>
          <p:nvPr/>
        </p:nvSpPr>
        <p:spPr>
          <a:xfrm>
            <a:off x="914400" y="3688080"/>
            <a:ext cx="9235440" cy="2585323"/>
          </a:xfrm>
          <a:prstGeom prst="rect">
            <a:avLst/>
          </a:prstGeom>
          <a:noFill/>
        </p:spPr>
        <p:txBody>
          <a:bodyPr wrap="square">
            <a:spAutoFit/>
          </a:bodyPr>
          <a:lstStyle/>
          <a:p>
            <a:pPr indent="0" algn="l" rtl="0">
              <a:buNone/>
            </a:pPr>
            <a:r>
              <a:rPr lang="en-IN" b="1" i="0">
                <a:solidFill>
                  <a:schemeClr val="tx1"/>
                </a:solidFill>
                <a:effectLst/>
                <a:latin typeface="+mn-lt"/>
              </a:rPr>
              <a:t>Flow Steps</a:t>
            </a:r>
            <a:endParaRPr lang="en-IN" b="1"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Start</a:t>
            </a:r>
            <a:r>
              <a:rPr lang="en-IN" sz="1800" b="0" i="0">
                <a:solidFill>
                  <a:schemeClr val="tx1"/>
                </a:solidFill>
                <a:effectLst/>
                <a:latin typeface="+mn-lt"/>
              </a:rPr>
              <a:t> – User opens the AI FAQ Assistant.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Enter Query</a:t>
            </a:r>
            <a:r>
              <a:rPr lang="en-IN" sz="1800" b="0" i="0">
                <a:solidFill>
                  <a:schemeClr val="tx1"/>
                </a:solidFill>
                <a:effectLst/>
                <a:latin typeface="+mn-lt"/>
              </a:rPr>
              <a:t> – User types a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Query Processing</a:t>
            </a:r>
            <a:r>
              <a:rPr lang="en-IN" sz="1800" b="0" i="0">
                <a:solidFill>
                  <a:schemeClr val="tx1"/>
                </a:solidFill>
                <a:effectLst/>
                <a:latin typeface="+mn-lt"/>
              </a:rPr>
              <a:t> – AI </a:t>
            </a:r>
            <a:r>
              <a:rPr lang="en-IN" sz="1800" b="0" i="0" err="1">
                <a:solidFill>
                  <a:schemeClr val="tx1"/>
                </a:solidFill>
                <a:effectLst/>
                <a:latin typeface="+mn-lt"/>
              </a:rPr>
              <a:t>analyzes</a:t>
            </a:r>
            <a:r>
              <a:rPr lang="en-IN" sz="1800" b="0" i="0">
                <a:solidFill>
                  <a:schemeClr val="tx1"/>
                </a:solidFill>
                <a:effectLst/>
                <a:latin typeface="+mn-lt"/>
              </a:rPr>
              <a:t> and understands the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FAQ Search</a:t>
            </a:r>
            <a:r>
              <a:rPr lang="en-IN" sz="1800" b="0" i="0">
                <a:solidFill>
                  <a:schemeClr val="tx1"/>
                </a:solidFill>
                <a:effectLst/>
                <a:latin typeface="+mn-lt"/>
              </a:rPr>
              <a:t> – System searches the FAQ knowledge base.</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Answer Available</a:t>
            </a:r>
            <a:r>
              <a:rPr lang="en-IN" sz="1800" b="0" i="0">
                <a:solidFill>
                  <a:schemeClr val="tx1"/>
                </a:solidFill>
                <a:effectLst/>
                <a:latin typeface="+mn-lt"/>
              </a:rPr>
              <a:t> – If a suitable answer is found, it is displayed to the user.</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No Answer</a:t>
            </a:r>
            <a:r>
              <a:rPr lang="en-IN" sz="1800" b="0" i="0">
                <a:solidFill>
                  <a:schemeClr val="tx1"/>
                </a:solidFill>
                <a:effectLst/>
                <a:latin typeface="+mn-lt"/>
              </a:rPr>
              <a:t> – If no suitable answer is found, the query is forwarded to a support agent.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Solution</a:t>
            </a:r>
            <a:r>
              <a:rPr lang="en-IN" sz="1800" b="0" i="0">
                <a:solidFill>
                  <a:schemeClr val="tx1"/>
                </a:solidFill>
                <a:effectLst/>
                <a:latin typeface="+mn-lt"/>
              </a:rPr>
              <a:t> – User receives the required information or solution.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End</a:t>
            </a:r>
            <a:r>
              <a:rPr lang="en-IN" sz="1800" b="0" i="0">
                <a:solidFill>
                  <a:schemeClr val="tx1"/>
                </a:solidFill>
                <a:effectLst/>
                <a:latin typeface="+mn-lt"/>
              </a:rPr>
              <a:t> – User can close the chat or ask another question.</a:t>
            </a:r>
            <a:endParaRPr lang="en-IN" sz="1200" b="0" i="0">
              <a:solidFill>
                <a:srgbClr val="0D0D0D"/>
              </a:solidFill>
              <a:effectLst/>
              <a:latin typeface="-apple-system-bod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343833" y="0"/>
            <a:ext cx="7504334"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5240"/>
            <a:ext cx="6096000" cy="230832"/>
          </a:xfrm>
          <a:prstGeom prst="rect">
            <a:avLst/>
          </a:prstGeom>
          <a:noFill/>
        </p:spPr>
        <p:txBody>
          <a:bodyPr wrap="square">
            <a:spAutoFit/>
          </a:bodyPr>
          <a:lstStyle/>
          <a:p>
            <a:r>
              <a:rPr lang="en-IN" sz="1800" b="1" i="0" cap="all" spc="72">
                <a:effectLst/>
                <a:latin typeface="+mn-lt"/>
              </a:rPr>
              <a:t>MVP Architecture</a:t>
            </a:r>
            <a:endParaRPr lang="en-IN"/>
          </a:p>
        </p:txBody>
      </p:sp>
      <p:sp>
        <p:nvSpPr>
          <p:cNvPr id="5" name="Rectangle: Rounded Corners 4"/>
          <p:cNvSpPr/>
          <p:nvPr/>
        </p:nvSpPr>
        <p:spPr>
          <a:xfrm>
            <a:off x="1320800" y="513080"/>
            <a:ext cx="2885440" cy="1102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1625600" y="602595"/>
            <a:ext cx="2885440" cy="923330"/>
          </a:xfrm>
          <a:prstGeom prst="rect">
            <a:avLst/>
          </a:prstGeom>
          <a:noFill/>
        </p:spPr>
        <p:txBody>
          <a:bodyPr wrap="square">
            <a:spAutoFit/>
          </a:bodyPr>
          <a:lstStyle/>
          <a:p>
            <a:r>
              <a:rPr lang="en-IN" sz="1800" b="1">
                <a:solidFill>
                  <a:schemeClr val="bg1">
                    <a:lumMod val="95000"/>
                  </a:schemeClr>
                </a:solidFill>
              </a:rPr>
              <a:t>👤 User</a:t>
            </a:r>
            <a:endParaRPr lang="en-IN" sz="1800" b="1">
              <a:solidFill>
                <a:schemeClr val="bg1">
                  <a:lumMod val="95000"/>
                </a:schemeClr>
              </a:solidFill>
            </a:endParaRPr>
          </a:p>
          <a:p>
            <a:r>
              <a:rPr lang="en-IN" sz="1800">
                <a:solidFill>
                  <a:schemeClr val="bg1">
                    <a:lumMod val="95000"/>
                  </a:schemeClr>
                </a:solidFill>
              </a:rPr>
              <a:t>Ask FAQ / Customer Question</a:t>
            </a:r>
            <a:endParaRPr lang="en-IN" sz="1800">
              <a:solidFill>
                <a:schemeClr val="bg1">
                  <a:lumMod val="95000"/>
                </a:schemeClr>
              </a:solidFill>
            </a:endParaRPr>
          </a:p>
        </p:txBody>
      </p:sp>
      <p:sp>
        <p:nvSpPr>
          <p:cNvPr id="12" name="Arrow: Right 11"/>
          <p:cNvSpPr/>
          <p:nvPr/>
        </p:nvSpPr>
        <p:spPr>
          <a:xfrm>
            <a:off x="4846320" y="751840"/>
            <a:ext cx="1473200" cy="3124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p:cNvSpPr/>
          <p:nvPr/>
        </p:nvSpPr>
        <p:spPr>
          <a:xfrm>
            <a:off x="7274560" y="569574"/>
            <a:ext cx="2885440" cy="95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5405120" y="705347"/>
            <a:ext cx="6096000" cy="684803"/>
          </a:xfrm>
          <a:prstGeom prst="rect">
            <a:avLst/>
          </a:prstGeom>
          <a:noFill/>
        </p:spPr>
        <p:txBody>
          <a:bodyPr wrap="square">
            <a:spAutoFit/>
          </a:bodyPr>
          <a:lstStyle/>
          <a:p>
            <a:pPr indent="0" algn="ctr">
              <a:buNone/>
            </a:pPr>
            <a:r>
              <a:rPr lang="en-IN" sz="1800" b="1" i="0">
                <a:solidFill>
                  <a:schemeClr val="bg1">
                    <a:lumMod val="95000"/>
                  </a:schemeClr>
                </a:solidFill>
                <a:effectLst/>
                <a:latin typeface="+mn-lt"/>
              </a:rPr>
              <a:t>💬 Frontend</a:t>
            </a:r>
            <a:endParaRPr lang="en-IN" sz="1800" b="1" i="0">
              <a:solidFill>
                <a:schemeClr val="bg1">
                  <a:lumMod val="95000"/>
                </a:schemeClr>
              </a:solidFill>
              <a:effectLst/>
              <a:latin typeface="+mn-lt"/>
            </a:endParaRPr>
          </a:p>
          <a:p>
            <a:pPr indent="0" algn="ctr">
              <a:spcBef>
                <a:spcPts val="300"/>
              </a:spcBef>
              <a:buNone/>
            </a:pPr>
            <a:r>
              <a:rPr lang="en-IN" sz="1800" b="0" i="0">
                <a:solidFill>
                  <a:schemeClr val="bg1">
                    <a:lumMod val="95000"/>
                  </a:schemeClr>
                </a:solidFill>
                <a:effectLst/>
                <a:latin typeface="+mn-lt"/>
              </a:rPr>
              <a:t>Chat Interface</a:t>
            </a:r>
            <a:endParaRPr lang="en-IN" sz="900" b="0" i="0">
              <a:solidFill>
                <a:schemeClr val="bg1">
                  <a:lumMod val="95000"/>
                </a:schemeClr>
              </a:solidFill>
              <a:effectLst/>
              <a:latin typeface="ui-sans-serif"/>
            </a:endParaRPr>
          </a:p>
        </p:txBody>
      </p:sp>
      <p:sp>
        <p:nvSpPr>
          <p:cNvPr id="16" name="Rectangle: Rounded Corners 15"/>
          <p:cNvSpPr/>
          <p:nvPr/>
        </p:nvSpPr>
        <p:spPr>
          <a:xfrm>
            <a:off x="1960880" y="2163465"/>
            <a:ext cx="866648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3068320" y="2163465"/>
            <a:ext cx="6096000" cy="684803"/>
          </a:xfrm>
          <a:prstGeom prst="rect">
            <a:avLst/>
          </a:prstGeom>
          <a:noFill/>
        </p:spPr>
        <p:txBody>
          <a:bodyPr wrap="square">
            <a:spAutoFit/>
          </a:bodyPr>
          <a:lstStyle/>
          <a:p>
            <a:pPr indent="0" algn="ctr">
              <a:buNone/>
            </a:pPr>
            <a:r>
              <a:rPr lang="en-IN" sz="1800" b="1" i="0">
                <a:solidFill>
                  <a:schemeClr val="bg1"/>
                </a:solidFill>
                <a:effectLst/>
                <a:latin typeface="+mn-lt"/>
              </a:rPr>
              <a:t>⚙️ Backend REST API</a:t>
            </a:r>
            <a:endParaRPr lang="en-IN" sz="1800" b="1" i="0">
              <a:solidFill>
                <a:schemeClr val="bg1"/>
              </a:solidFill>
              <a:effectLst/>
              <a:latin typeface="+mn-lt"/>
            </a:endParaRPr>
          </a:p>
          <a:p>
            <a:pPr indent="0" algn="ctr">
              <a:spcBef>
                <a:spcPts val="300"/>
              </a:spcBef>
              <a:buNone/>
            </a:pPr>
            <a:r>
              <a:rPr lang="en-IN" sz="1800" b="0" i="0">
                <a:solidFill>
                  <a:schemeClr val="bg1"/>
                </a:solidFill>
                <a:effectLst/>
                <a:latin typeface="+mn-lt"/>
              </a:rPr>
              <a:t>Request Handling • Authentication • Business Logic</a:t>
            </a:r>
            <a:endParaRPr lang="en-IN" sz="900" b="0" i="0">
              <a:solidFill>
                <a:schemeClr val="bg1"/>
              </a:solidFill>
              <a:effectLst/>
              <a:latin typeface="ui-sans-serif"/>
            </a:endParaRPr>
          </a:p>
        </p:txBody>
      </p:sp>
      <p:sp>
        <p:nvSpPr>
          <p:cNvPr id="19" name="Rectangle: Rounded Corners 18"/>
          <p:cNvSpPr/>
          <p:nvPr/>
        </p:nvSpPr>
        <p:spPr>
          <a:xfrm>
            <a:off x="1625599" y="3429000"/>
            <a:ext cx="2631441" cy="87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FAQ Database</a:t>
            </a:r>
            <a:endParaRPr lang="en-IN" b="1"/>
          </a:p>
          <a:p>
            <a:r>
              <a:rPr lang="en-IN"/>
              <a:t>Questions • Answers • Categories</a:t>
            </a:r>
            <a:endParaRPr lang="en-IN"/>
          </a:p>
        </p:txBody>
      </p:sp>
      <p:sp>
        <p:nvSpPr>
          <p:cNvPr id="20" name="Rectangle: Rounded Corners 19"/>
          <p:cNvSpPr/>
          <p:nvPr/>
        </p:nvSpPr>
        <p:spPr>
          <a:xfrm>
            <a:off x="4597400" y="3428999"/>
            <a:ext cx="306324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AI / NLP</a:t>
            </a:r>
            <a:endParaRPr lang="en-IN" b="1"/>
          </a:p>
          <a:p>
            <a:r>
              <a:rPr lang="en-IN"/>
              <a:t>Understand User Query</a:t>
            </a:r>
            <a:endParaRPr lang="en-IN"/>
          </a:p>
        </p:txBody>
      </p:sp>
      <p:sp>
        <p:nvSpPr>
          <p:cNvPr id="21" name="Rectangle: Rounded Corners 20"/>
          <p:cNvSpPr/>
          <p:nvPr/>
        </p:nvSpPr>
        <p:spPr>
          <a:xfrm>
            <a:off x="7934960" y="3443318"/>
            <a:ext cx="269240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Semantic Search</a:t>
            </a:r>
            <a:endParaRPr lang="en-IN" b="1"/>
          </a:p>
          <a:p>
            <a:r>
              <a:rPr lang="en-IN"/>
              <a:t>Find Relevant FAQ</a:t>
            </a:r>
            <a:endParaRPr lang="en-IN"/>
          </a:p>
        </p:txBody>
      </p:sp>
      <p:sp>
        <p:nvSpPr>
          <p:cNvPr id="22" name="Rectangle: Rounded Corners 21"/>
          <p:cNvSpPr/>
          <p:nvPr/>
        </p:nvSpPr>
        <p:spPr>
          <a:xfrm>
            <a:off x="2245360" y="4714240"/>
            <a:ext cx="8666480" cy="7924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AI Response Generator</a:t>
            </a:r>
            <a:endParaRPr lang="en-IN" b="1"/>
          </a:p>
          <a:p>
            <a:r>
              <a:rPr lang="en-IN"/>
              <a:t>                                              Generate Accurate &amp; User-Friendly Answer</a:t>
            </a:r>
            <a:endParaRPr lang="en-IN"/>
          </a:p>
        </p:txBody>
      </p:sp>
      <p:sp>
        <p:nvSpPr>
          <p:cNvPr id="23" name="Rectangle: Rounded Corners 22"/>
          <p:cNvSpPr/>
          <p:nvPr/>
        </p:nvSpPr>
        <p:spPr>
          <a:xfrm>
            <a:off x="3200400" y="6065520"/>
            <a:ext cx="6644640" cy="599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Final Answer</a:t>
            </a:r>
            <a:endParaRPr lang="en-IN" b="1"/>
          </a:p>
          <a:p>
            <a:r>
              <a:rPr lang="en-IN"/>
              <a:t>                                  Response displayed to the user</a:t>
            </a:r>
            <a:endParaRPr lang="en-IN"/>
          </a:p>
        </p:txBody>
      </p:sp>
      <p:cxnSp>
        <p:nvCxnSpPr>
          <p:cNvPr id="25" name="Straight Arrow Connector 24"/>
          <p:cNvCxnSpPr/>
          <p:nvPr/>
        </p:nvCxnSpPr>
        <p:spPr>
          <a:xfrm>
            <a:off x="2905760" y="1737360"/>
            <a:ext cx="0" cy="26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8717280" y="1737360"/>
            <a:ext cx="0" cy="335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a:off x="2631440" y="3037840"/>
            <a:ext cx="27432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5862320" y="3037840"/>
            <a:ext cx="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9011920" y="2989580"/>
            <a:ext cx="182880" cy="342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6294120" y="4236720"/>
            <a:ext cx="0" cy="40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6207760" y="5638800"/>
            <a:ext cx="0" cy="345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86174"/>
            <a:ext cx="6096000" cy="369332"/>
          </a:xfrm>
          <a:prstGeom prst="rect">
            <a:avLst/>
          </a:prstGeom>
          <a:noFill/>
        </p:spPr>
        <p:txBody>
          <a:bodyPr wrap="square">
            <a:spAutoFit/>
          </a:bodyPr>
          <a:lstStyle/>
          <a:p>
            <a:r>
              <a:rPr lang="en-IN" b="1"/>
              <a:t>EPIC</a:t>
            </a:r>
            <a:r>
              <a:rPr lang="en-IN"/>
              <a:t> </a:t>
            </a:r>
            <a:r>
              <a:rPr lang="en-IN" b="1"/>
              <a:t>2:</a:t>
            </a:r>
            <a:r>
              <a:rPr lang="en-IN"/>
              <a:t> Project Setup and Configuration</a:t>
            </a:r>
            <a:endParaRPr lang="en-IN"/>
          </a:p>
        </p:txBody>
      </p:sp>
      <p:sp>
        <p:nvSpPr>
          <p:cNvPr id="5" name="TextBox 4"/>
          <p:cNvSpPr txBox="1"/>
          <p:nvPr/>
        </p:nvSpPr>
        <p:spPr>
          <a:xfrm>
            <a:off x="558800" y="482939"/>
            <a:ext cx="8036560" cy="1467782"/>
          </a:xfrm>
          <a:prstGeom prst="rect">
            <a:avLst/>
          </a:prstGeom>
          <a:noFill/>
        </p:spPr>
        <p:txBody>
          <a:bodyPr wrap="square">
            <a:spAutoFit/>
          </a:bodyPr>
          <a:lstStyle/>
          <a:p>
            <a:pPr>
              <a:buNone/>
            </a:pPr>
            <a:r>
              <a:rPr lang="en-IN" b="1"/>
              <a:t>2.1 Create Project Folder</a:t>
            </a:r>
            <a:endParaRPr lang="en-IN" b="1"/>
          </a:p>
          <a:p>
            <a:pPr marL="342900" lvl="0" indent="-342900">
              <a:buFont typeface="+mj-lt"/>
              <a:buAutoNum type="arabicPeriod"/>
            </a:pPr>
            <a:r>
              <a:rPr lang="en-IN"/>
              <a:t>Create the main project folder named </a:t>
            </a:r>
            <a:r>
              <a:rPr lang="en-IN" b="1"/>
              <a:t>AI FAQ Assistant API</a:t>
            </a:r>
            <a:r>
              <a:rPr lang="en-IN"/>
              <a:t>. </a:t>
            </a:r>
            <a:endParaRPr lang="en-IN"/>
          </a:p>
          <a:p>
            <a:pPr marL="342900" lvl="0" indent="-342900">
              <a:buFont typeface="+mj-lt"/>
              <a:buAutoNum type="arabicPeriod"/>
            </a:pPr>
            <a:r>
              <a:rPr lang="en-IN"/>
              <a:t>Create separate folders for </a:t>
            </a:r>
            <a:r>
              <a:rPr lang="en-IN" b="1"/>
              <a:t>Frontend, Backend, Database, and Documentation</a:t>
            </a:r>
            <a:r>
              <a:rPr lang="en-IN"/>
              <a:t>. </a:t>
            </a:r>
            <a:endParaRPr lang="en-IN"/>
          </a:p>
          <a:p>
            <a:pPr marL="342900" lvl="0" indent="-342900">
              <a:buFont typeface="+mj-lt"/>
              <a:buAutoNum type="arabicPeriod"/>
            </a:pPr>
            <a:r>
              <a:rPr lang="en-IN"/>
              <a:t>Organize all project files and resources in their respective folders.</a:t>
            </a:r>
            <a:endParaRPr lang="en-IN"/>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31240" y="2087630"/>
            <a:ext cx="3545840" cy="2682740"/>
          </a:xfrm>
          <a:prstGeom prst="rect">
            <a:avLst/>
          </a:prstGeom>
        </p:spPr>
      </p:pic>
      <p:sp>
        <p:nvSpPr>
          <p:cNvPr id="9" name="TextBox 8"/>
          <p:cNvSpPr txBox="1"/>
          <p:nvPr/>
        </p:nvSpPr>
        <p:spPr>
          <a:xfrm>
            <a:off x="650240" y="4907279"/>
            <a:ext cx="8219440" cy="1477328"/>
          </a:xfrm>
          <a:prstGeom prst="rect">
            <a:avLst/>
          </a:prstGeom>
          <a:noFill/>
        </p:spPr>
        <p:txBody>
          <a:bodyPr wrap="square">
            <a:spAutoFit/>
          </a:bodyPr>
          <a:lstStyle/>
          <a:p>
            <a:pPr>
              <a:buNone/>
            </a:pPr>
            <a:r>
              <a:rPr lang="en-IN" b="1"/>
              <a:t>2.2 Server Setup – </a:t>
            </a:r>
            <a:r>
              <a:rPr lang="en-IN" b="1" err="1">
                <a:latin typeface="+mn-lt"/>
              </a:rPr>
              <a:t>npm</a:t>
            </a:r>
            <a:r>
              <a:rPr lang="en-IN" b="1">
                <a:latin typeface="+mn-lt"/>
              </a:rPr>
              <a:t> </a:t>
            </a:r>
            <a:r>
              <a:rPr lang="en-IN" b="1" err="1">
                <a:latin typeface="+mn-lt"/>
              </a:rPr>
              <a:t>init</a:t>
            </a:r>
            <a:endParaRPr lang="en-IN" b="1"/>
          </a:p>
          <a:p>
            <a:pPr marL="342900" lvl="0" indent="-342900">
              <a:buFont typeface="+mj-lt"/>
              <a:buAutoNum type="arabicPeriod"/>
            </a:pPr>
            <a:r>
              <a:rPr lang="en-IN"/>
              <a:t>Open the </a:t>
            </a:r>
            <a:r>
              <a:rPr lang="en-IN" b="1"/>
              <a:t>AI FAQ Assistant API</a:t>
            </a:r>
            <a:r>
              <a:rPr lang="en-IN"/>
              <a:t> project folder in the terminal.</a:t>
            </a:r>
            <a:endParaRPr lang="en-IN"/>
          </a:p>
          <a:p>
            <a:pPr marL="342900" lvl="0" indent="-342900">
              <a:buFont typeface="+mj-lt"/>
              <a:buAutoNum type="arabicPeriod"/>
            </a:pPr>
            <a:r>
              <a:rPr lang="en-IN"/>
              <a:t>Run </a:t>
            </a:r>
            <a:r>
              <a:rPr lang="en-IN" b="1" err="1">
                <a:latin typeface="+mn-lt"/>
              </a:rPr>
              <a:t>npm</a:t>
            </a:r>
            <a:r>
              <a:rPr lang="en-IN" b="1">
                <a:latin typeface="+mn-lt"/>
              </a:rPr>
              <a:t> </a:t>
            </a:r>
            <a:r>
              <a:rPr lang="en-IN" b="1" err="1">
                <a:latin typeface="+mn-lt"/>
              </a:rPr>
              <a:t>init</a:t>
            </a:r>
            <a:r>
              <a:rPr lang="en-IN" b="1">
                <a:latin typeface="+mn-lt"/>
              </a:rPr>
              <a:t> -y</a:t>
            </a:r>
            <a:r>
              <a:rPr lang="en-IN"/>
              <a:t> to initialize the Node.js server project.</a:t>
            </a:r>
            <a:endParaRPr lang="en-IN"/>
          </a:p>
          <a:p>
            <a:pPr marL="342900" lvl="0" indent="-342900">
              <a:buFont typeface="+mj-lt"/>
              <a:buAutoNum type="arabicPeriod"/>
            </a:pPr>
            <a:r>
              <a:rPr lang="en-IN"/>
              <a:t>This creates the </a:t>
            </a:r>
            <a:r>
              <a:rPr lang="en-IN" b="1" err="1">
                <a:latin typeface="+mn-lt"/>
              </a:rPr>
              <a:t>package.json</a:t>
            </a:r>
            <a:r>
              <a:rPr lang="en-IN"/>
              <a:t> file for managing server dependencies and configuration.</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66161" y="497840"/>
            <a:ext cx="4328160" cy="5414667"/>
          </a:xfrm>
          <a:prstGeom prst="rect">
            <a:avLst/>
          </a:prstGeom>
        </p:spPr>
      </p:pic>
      <p:sp>
        <p:nvSpPr>
          <p:cNvPr id="4" name="TextBox 3"/>
          <p:cNvSpPr txBox="1"/>
          <p:nvPr/>
        </p:nvSpPr>
        <p:spPr>
          <a:xfrm>
            <a:off x="457200" y="128508"/>
            <a:ext cx="4001416" cy="369332"/>
          </a:xfrm>
          <a:prstGeom prst="rect">
            <a:avLst/>
          </a:prstGeom>
          <a:noFill/>
        </p:spPr>
        <p:txBody>
          <a:bodyPr wrap="none" rtlCol="0">
            <a:spAutoFit/>
          </a:bodyPr>
          <a:lstStyle/>
          <a:p>
            <a:r>
              <a:rPr lang="en-US" b="1"/>
              <a:t>Core system script implementations</a:t>
            </a:r>
            <a:endParaRPr lang="en-IN"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4720" y="225702"/>
            <a:ext cx="7498080" cy="4801314"/>
          </a:xfrm>
          <a:prstGeom prst="rect">
            <a:avLst/>
          </a:prstGeom>
          <a:noFill/>
        </p:spPr>
        <p:txBody>
          <a:bodyPr wrap="square">
            <a:spAutoFit/>
          </a:bodyPr>
          <a:lstStyle/>
          <a:p>
            <a:pPr>
              <a:buNone/>
            </a:pPr>
            <a:r>
              <a:rPr lang="en-IN" b="1"/>
              <a:t>EPIC 3: Backend Development</a:t>
            </a:r>
            <a:endParaRPr lang="en-IN" b="1"/>
          </a:p>
          <a:p>
            <a:pPr>
              <a:buNone/>
            </a:pPr>
            <a:r>
              <a:rPr lang="en-IN" b="1"/>
              <a:t>3.1 Server Configuration</a:t>
            </a:r>
            <a:endParaRPr lang="en-IN" b="1"/>
          </a:p>
          <a:p>
            <a:pPr marL="342900" lvl="0" indent="-342900">
              <a:buFont typeface="+mj-lt"/>
              <a:buAutoNum type="arabicPeriod"/>
            </a:pPr>
            <a:r>
              <a:rPr lang="en-IN"/>
              <a:t>Create and configure the backend server. </a:t>
            </a:r>
            <a:endParaRPr lang="en-IN"/>
          </a:p>
          <a:p>
            <a:pPr marL="342900" lvl="0" indent="-342900">
              <a:buFont typeface="+mj-lt"/>
              <a:buAutoNum type="arabicPeriod"/>
            </a:pPr>
            <a:r>
              <a:rPr lang="en-IN"/>
              <a:t>Install required Node.js packages. </a:t>
            </a:r>
            <a:endParaRPr lang="en-IN"/>
          </a:p>
          <a:p>
            <a:pPr marL="342900" lvl="0" indent="-342900">
              <a:buFont typeface="+mj-lt"/>
              <a:buAutoNum type="arabicPeriod"/>
            </a:pPr>
            <a:r>
              <a:rPr lang="en-IN"/>
              <a:t>Connect the server with the database. </a:t>
            </a:r>
            <a:endParaRPr lang="en-IN"/>
          </a:p>
          <a:p>
            <a:pPr>
              <a:buNone/>
            </a:pPr>
            <a:r>
              <a:rPr lang="en-IN" b="1"/>
              <a:t>3.2 API Development</a:t>
            </a:r>
            <a:endParaRPr lang="en-IN" b="1"/>
          </a:p>
          <a:p>
            <a:pPr marL="342900" lvl="0" indent="-342900">
              <a:buFont typeface="+mj-lt"/>
              <a:buAutoNum type="arabicPeriod"/>
            </a:pPr>
            <a:r>
              <a:rPr lang="en-IN"/>
              <a:t>Create REST API endpoints. </a:t>
            </a:r>
            <a:endParaRPr lang="en-IN"/>
          </a:p>
          <a:p>
            <a:pPr marL="342900" lvl="0" indent="-342900">
              <a:buFont typeface="+mj-lt"/>
              <a:buAutoNum type="arabicPeriod"/>
            </a:pPr>
            <a:r>
              <a:rPr lang="en-IN"/>
              <a:t>Implement FAQ CRUD operations. </a:t>
            </a:r>
            <a:endParaRPr lang="en-IN"/>
          </a:p>
          <a:p>
            <a:pPr marL="342900" lvl="0" indent="-342900">
              <a:buFont typeface="+mj-lt"/>
              <a:buAutoNum type="arabicPeriod"/>
            </a:pPr>
            <a:r>
              <a:rPr lang="en-IN"/>
              <a:t>Handle user requests and API responses. </a:t>
            </a:r>
            <a:endParaRPr lang="en-IN"/>
          </a:p>
          <a:p>
            <a:pPr>
              <a:buNone/>
            </a:pPr>
            <a:r>
              <a:rPr lang="en-IN" b="1"/>
              <a:t>3.3 AI FAQ Integration</a:t>
            </a:r>
            <a:endParaRPr lang="en-IN" b="1"/>
          </a:p>
          <a:p>
            <a:pPr marL="342900" lvl="0" indent="-342900">
              <a:buFont typeface="+mj-lt"/>
              <a:buAutoNum type="arabicPeriod"/>
            </a:pPr>
            <a:r>
              <a:rPr lang="en-IN"/>
              <a:t>Process the user's question. </a:t>
            </a:r>
            <a:endParaRPr lang="en-IN"/>
          </a:p>
          <a:p>
            <a:pPr marL="342900" lvl="0" indent="-342900">
              <a:buFont typeface="+mj-lt"/>
              <a:buAutoNum type="arabicPeriod"/>
            </a:pPr>
            <a:r>
              <a:rPr lang="en-IN"/>
              <a:t>Search for the relevant FAQ. </a:t>
            </a:r>
            <a:endParaRPr lang="en-IN"/>
          </a:p>
          <a:p>
            <a:pPr marL="342900" lvl="0" indent="-342900">
              <a:buFont typeface="+mj-lt"/>
              <a:buAutoNum type="arabicPeriod"/>
            </a:pPr>
            <a:r>
              <a:rPr lang="en-IN"/>
              <a:t>Generate and return the appropriate answer. </a:t>
            </a:r>
            <a:endParaRPr lang="en-IN"/>
          </a:p>
          <a:p>
            <a:pPr>
              <a:buNone/>
            </a:pPr>
            <a:r>
              <a:rPr lang="en-IN" b="1"/>
              <a:t>3.4 Feedback &amp; Like Management</a:t>
            </a:r>
            <a:endParaRPr lang="en-IN" b="1"/>
          </a:p>
          <a:p>
            <a:pPr marL="342900" lvl="0" indent="-342900">
              <a:buFont typeface="+mj-lt"/>
              <a:buAutoNum type="arabicPeriod"/>
            </a:pPr>
            <a:r>
              <a:rPr lang="en-IN"/>
              <a:t>Implement FAQ like functionality. </a:t>
            </a:r>
            <a:endParaRPr lang="en-IN"/>
          </a:p>
          <a:p>
            <a:pPr marL="342900" lvl="0" indent="-342900">
              <a:buFont typeface="+mj-lt"/>
              <a:buAutoNum type="arabicPeriod"/>
            </a:pPr>
            <a:r>
              <a:rPr lang="en-IN"/>
              <a:t>Store answer feedback. </a:t>
            </a:r>
            <a:endParaRPr lang="en-IN"/>
          </a:p>
          <a:p>
            <a:pPr marL="342900" lvl="0" indent="-342900">
              <a:buFont typeface="+mj-lt"/>
              <a:buAutoNum type="arabicPeriod"/>
            </a:pPr>
            <a:r>
              <a:rPr lang="en-IN"/>
              <a:t>Retrieve feedback and rating data. </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0220" y="2496820"/>
            <a:ext cx="8915400" cy="4038600"/>
          </a:xfrm>
          <a:prstGeom prst="rect">
            <a:avLst/>
          </a:prstGeom>
        </p:spPr>
      </p:pic>
      <p:sp>
        <p:nvSpPr>
          <p:cNvPr id="4" name="TextBox 3"/>
          <p:cNvSpPr txBox="1"/>
          <p:nvPr/>
        </p:nvSpPr>
        <p:spPr>
          <a:xfrm>
            <a:off x="1483360" y="548640"/>
            <a:ext cx="3724096" cy="369332"/>
          </a:xfrm>
          <a:prstGeom prst="rect">
            <a:avLst/>
          </a:prstGeom>
          <a:noFill/>
        </p:spPr>
        <p:txBody>
          <a:bodyPr wrap="none" rtlCol="0">
            <a:spAutoFit/>
          </a:bodyPr>
          <a:lstStyle/>
          <a:p>
            <a:r>
              <a:rPr lang="en-US" b="1"/>
              <a:t>1.Application Entry Point</a:t>
            </a:r>
            <a:r>
              <a:rPr lang="en-US" b="1">
                <a:solidFill>
                  <a:schemeClr val="accent6"/>
                </a:solidFill>
              </a:rPr>
              <a:t>(index.js)</a:t>
            </a:r>
            <a:endParaRPr lang="en-IN" b="1">
              <a:solidFill>
                <a:schemeClr val="accent6"/>
              </a:solidFill>
            </a:endParaRPr>
          </a:p>
        </p:txBody>
      </p:sp>
      <p:sp>
        <p:nvSpPr>
          <p:cNvPr id="5" name="TextBox 4"/>
          <p:cNvSpPr txBox="1"/>
          <p:nvPr/>
        </p:nvSpPr>
        <p:spPr>
          <a:xfrm>
            <a:off x="1971041" y="1046480"/>
            <a:ext cx="9540240" cy="1477328"/>
          </a:xfrm>
          <a:prstGeom prst="rect">
            <a:avLst/>
          </a:prstGeom>
          <a:noFill/>
        </p:spPr>
        <p:txBody>
          <a:bodyPr wrap="square" rtlCol="0">
            <a:spAutoFit/>
          </a:bodyPr>
          <a:lstStyle/>
          <a:p>
            <a:r>
              <a:rPr lang="en-US"/>
              <a:t>The index .</a:t>
            </a:r>
            <a:r>
              <a:rPr lang="en-US" err="1"/>
              <a:t>js</a:t>
            </a:r>
            <a:r>
              <a:rPr lang="en-US"/>
              <a:t> file serves as the main entry point of the </a:t>
            </a:r>
            <a:r>
              <a:rPr lang="en-US" err="1"/>
              <a:t>application.It</a:t>
            </a:r>
            <a:r>
              <a:rPr lang="en-US"/>
              <a:t> initializes the Express </a:t>
            </a:r>
            <a:r>
              <a:rPr lang="en-US" err="1"/>
              <a:t>server,loads</a:t>
            </a:r>
            <a:r>
              <a:rPr lang="en-US"/>
              <a:t> environment variables configures </a:t>
            </a:r>
            <a:r>
              <a:rPr lang="en-US" err="1"/>
              <a:t>middleware,establishes</a:t>
            </a:r>
            <a:r>
              <a:rPr lang="en-US"/>
              <a:t> the MongoDB connection ,register API routes and starts the server after a successfully</a:t>
            </a:r>
            <a:endParaRPr lang="en-US"/>
          </a:p>
          <a:p>
            <a:r>
              <a:rPr lang="en-US"/>
              <a:t>Database connection</a:t>
            </a:r>
            <a:endParaRPr lang="en-US"/>
          </a:p>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560" y="203200"/>
            <a:ext cx="3321743" cy="369332"/>
          </a:xfrm>
          <a:prstGeom prst="rect">
            <a:avLst/>
          </a:prstGeom>
          <a:noFill/>
        </p:spPr>
        <p:txBody>
          <a:bodyPr wrap="none" rtlCol="0">
            <a:spAutoFit/>
          </a:bodyPr>
          <a:lstStyle/>
          <a:p>
            <a:r>
              <a:rPr lang="en-US" b="1"/>
              <a:t>Epic4:Database Configuration</a:t>
            </a:r>
            <a:endParaRPr lang="en-IN" b="1"/>
          </a:p>
        </p:txBody>
      </p:sp>
      <p:sp>
        <p:nvSpPr>
          <p:cNvPr id="4" name="TextBox 3"/>
          <p:cNvSpPr txBox="1"/>
          <p:nvPr/>
        </p:nvSpPr>
        <p:spPr>
          <a:xfrm>
            <a:off x="599440" y="572533"/>
            <a:ext cx="9540240" cy="2031325"/>
          </a:xfrm>
          <a:prstGeom prst="rect">
            <a:avLst/>
          </a:prstGeom>
          <a:noFill/>
        </p:spPr>
        <p:txBody>
          <a:bodyPr wrap="square">
            <a:spAutoFit/>
          </a:bodyPr>
          <a:lstStyle/>
          <a:p>
            <a:r>
              <a:rPr lang="en-IN"/>
              <a:t>Database Configuration</a:t>
            </a:r>
            <a:endParaRPr lang="en-IN"/>
          </a:p>
          <a:p>
            <a:pPr marL="285750" indent="-285750">
              <a:buFont typeface="Arial" panose="020B0604020202020204" pitchFamily="34" charset="0"/>
              <a:buChar char="•"/>
            </a:pPr>
            <a:r>
              <a:rPr lang="en-IN"/>
              <a:t> Create the AI FAQ Assistant database.</a:t>
            </a:r>
            <a:endParaRPr lang="en-IN"/>
          </a:p>
          <a:p>
            <a:pPr marL="285750" indent="-285750">
              <a:buFont typeface="Arial" panose="020B0604020202020204" pitchFamily="34" charset="0"/>
              <a:buChar char="•"/>
            </a:pPr>
            <a:r>
              <a:rPr lang="en-IN"/>
              <a:t>Configure database connection with the API.</a:t>
            </a:r>
            <a:endParaRPr lang="en-IN"/>
          </a:p>
          <a:p>
            <a:pPr marL="285750" indent="-285750">
              <a:buFont typeface="Arial" panose="020B0604020202020204" pitchFamily="34" charset="0"/>
              <a:buChar char="•"/>
            </a:pPr>
            <a:r>
              <a:rPr lang="en-IN"/>
              <a:t> Store database credentials securely using ".env".</a:t>
            </a:r>
            <a:endParaRPr lang="en-IN"/>
          </a:p>
          <a:p>
            <a:pPr marL="285750" indent="-285750">
              <a:buFont typeface="Arial" panose="020B0604020202020204" pitchFamily="34" charset="0"/>
              <a:buChar char="•"/>
            </a:pPr>
            <a:r>
              <a:rPr lang="en-IN"/>
              <a:t>Create tables for User, FAQ, Category, FAQ Like, Answer Feedback, Tag and FAQ Tag.</a:t>
            </a:r>
            <a:endParaRPr lang="en-IN"/>
          </a:p>
          <a:p>
            <a:pPr marL="285750" indent="-285750">
              <a:buFont typeface="Arial" panose="020B0604020202020204" pitchFamily="34" charset="0"/>
              <a:buChar char="•"/>
            </a:pPr>
            <a:r>
              <a:rPr lang="en-IN"/>
              <a:t>Establish relationships between the tables.</a:t>
            </a:r>
            <a:endParaRPr lang="en-IN"/>
          </a:p>
          <a:p>
            <a:pPr marL="285750" indent="-285750">
              <a:buFont typeface="Arial" panose="020B0604020202020204" pitchFamily="34" charset="0"/>
              <a:buChar char="•"/>
            </a:pPr>
            <a:r>
              <a:rPr lang="en-IN"/>
              <a:t>Test the database connection with the backend API.</a:t>
            </a:r>
            <a:endParaRPr lang="en-IN"/>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4417" y="2626926"/>
            <a:ext cx="4858063" cy="36585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5600" y="0"/>
            <a:ext cx="6096000" cy="2862322"/>
          </a:xfrm>
          <a:prstGeom prst="rect">
            <a:avLst/>
          </a:prstGeom>
          <a:noFill/>
        </p:spPr>
        <p:txBody>
          <a:bodyPr wrap="square">
            <a:spAutoFit/>
          </a:bodyPr>
          <a:lstStyle/>
          <a:p>
            <a:r>
              <a:rPr lang="en-US" b="1"/>
              <a:t>Epic5:Project Execution</a:t>
            </a:r>
            <a:endParaRPr lang="en-US" b="1"/>
          </a:p>
          <a:p>
            <a:endParaRPr lang="en-US"/>
          </a:p>
          <a:p>
            <a:pPr marL="285750" indent="-285750">
              <a:buFont typeface="Arial" panose="020B0604020202020204" pitchFamily="34" charset="0"/>
              <a:buChar char="•"/>
            </a:pPr>
            <a:r>
              <a:rPr lang="en-US"/>
              <a:t>- Set up the project environment and folder structure.</a:t>
            </a:r>
            <a:endParaRPr lang="en-US"/>
          </a:p>
          <a:p>
            <a:pPr marL="285750" indent="-285750">
              <a:buFont typeface="Arial" panose="020B0604020202020204" pitchFamily="34" charset="0"/>
              <a:buChar char="•"/>
            </a:pPr>
            <a:r>
              <a:rPr lang="en-US"/>
              <a:t>- Configure the Node.js server and database.</a:t>
            </a:r>
            <a:endParaRPr lang="en-US"/>
          </a:p>
          <a:p>
            <a:pPr marL="285750" indent="-285750">
              <a:buFont typeface="Arial" panose="020B0604020202020204" pitchFamily="34" charset="0"/>
              <a:buChar char="•"/>
            </a:pPr>
            <a:r>
              <a:rPr lang="en-US"/>
              <a:t>- Develop REST API endpoints for FAQ management.</a:t>
            </a:r>
            <a:endParaRPr lang="en-US"/>
          </a:p>
          <a:p>
            <a:pPr marL="285750" indent="-285750">
              <a:buFont typeface="Arial" panose="020B0604020202020204" pitchFamily="34" charset="0"/>
              <a:buChar char="•"/>
            </a:pPr>
            <a:r>
              <a:rPr lang="en-US"/>
              <a:t>- Implement user, category, tag, like and feedback modules.</a:t>
            </a:r>
            <a:endParaRPr lang="en-US"/>
          </a:p>
          <a:p>
            <a:pPr marL="285750" indent="-285750">
              <a:buFont typeface="Arial" panose="020B0604020202020204" pitchFamily="34" charset="0"/>
              <a:buChar char="•"/>
            </a:pPr>
            <a:r>
              <a:rPr lang="en-US"/>
              <a:t>- Connect the API with the database.</a:t>
            </a:r>
            <a:endParaRPr lang="en-US"/>
          </a:p>
          <a:p>
            <a:pPr marL="285750" indent="-285750">
              <a:buFont typeface="Arial" panose="020B0604020202020204" pitchFamily="34" charset="0"/>
              <a:buChar char="•"/>
            </a:pPr>
            <a:r>
              <a:rPr lang="en-US"/>
              <a:t>- Test API requests and responses using Postman.</a:t>
            </a:r>
            <a:endParaRPr lang="en-US"/>
          </a:p>
          <a:p>
            <a:pPr marL="285750" indent="-285750">
              <a:buFont typeface="Arial" panose="020B0604020202020204" pitchFamily="34" charset="0"/>
              <a:buChar char="•"/>
            </a:pPr>
            <a:r>
              <a:rPr lang="en-US"/>
              <a:t>- Run the complete AI FAQ Assistant system successfully.</a:t>
            </a:r>
            <a:endParaRPr lang="en-IN"/>
          </a:p>
        </p:txBody>
      </p:sp>
      <p:sp>
        <p:nvSpPr>
          <p:cNvPr id="6" name="Rectangle: Rounded Corners 5"/>
          <p:cNvSpPr/>
          <p:nvPr/>
        </p:nvSpPr>
        <p:spPr>
          <a:xfrm>
            <a:off x="1290320" y="4257040"/>
            <a:ext cx="7233920" cy="4368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install</a:t>
            </a:r>
            <a:endParaRPr lang="en-IN"/>
          </a:p>
        </p:txBody>
      </p:sp>
      <p:sp>
        <p:nvSpPr>
          <p:cNvPr id="8" name="TextBox 7"/>
          <p:cNvSpPr txBox="1"/>
          <p:nvPr/>
        </p:nvSpPr>
        <p:spPr>
          <a:xfrm>
            <a:off x="355600" y="4981416"/>
            <a:ext cx="6096000" cy="369332"/>
          </a:xfrm>
          <a:prstGeom prst="rect">
            <a:avLst/>
          </a:prstGeom>
          <a:noFill/>
        </p:spPr>
        <p:txBody>
          <a:bodyPr wrap="square">
            <a:spAutoFit/>
          </a:bodyPr>
          <a:lstStyle/>
          <a:p>
            <a:r>
              <a:rPr lang="en-IN"/>
              <a:t>Start the development server:</a:t>
            </a:r>
            <a:endParaRPr lang="en-IN"/>
          </a:p>
        </p:txBody>
      </p:sp>
      <p:sp>
        <p:nvSpPr>
          <p:cNvPr id="10" name="TextBox 9"/>
          <p:cNvSpPr txBox="1"/>
          <p:nvPr/>
        </p:nvSpPr>
        <p:spPr>
          <a:xfrm>
            <a:off x="508000" y="2967335"/>
            <a:ext cx="6096000" cy="923330"/>
          </a:xfrm>
          <a:prstGeom prst="rect">
            <a:avLst/>
          </a:prstGeom>
          <a:noFill/>
        </p:spPr>
        <p:txBody>
          <a:bodyPr wrap="square">
            <a:spAutoFit/>
          </a:bodyPr>
          <a:lstStyle/>
          <a:p>
            <a:r>
              <a:rPr lang="en-IN"/>
              <a:t>Running the Backend Server</a:t>
            </a:r>
            <a:endParaRPr lang="en-IN"/>
          </a:p>
          <a:p>
            <a:endParaRPr lang="en-IN"/>
          </a:p>
          <a:p>
            <a:r>
              <a:rPr lang="en-IN"/>
              <a:t>install all required dependencies:</a:t>
            </a:r>
            <a:endParaRPr lang="en-IN"/>
          </a:p>
        </p:txBody>
      </p:sp>
      <p:sp>
        <p:nvSpPr>
          <p:cNvPr id="11" name="Rectangle: Rounded Corners 10"/>
          <p:cNvSpPr/>
          <p:nvPr/>
        </p:nvSpPr>
        <p:spPr>
          <a:xfrm>
            <a:off x="1290320" y="5572877"/>
            <a:ext cx="7233920" cy="43688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start</a:t>
            </a: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7002" y="0"/>
            <a:ext cx="99979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805" y="71120"/>
            <a:ext cx="9249989"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280" y="538480"/>
            <a:ext cx="4263155" cy="923330"/>
          </a:xfrm>
          <a:prstGeom prst="rect">
            <a:avLst/>
          </a:prstGeom>
          <a:noFill/>
        </p:spPr>
        <p:txBody>
          <a:bodyPr wrap="none" rtlCol="0">
            <a:spAutoFit/>
          </a:bodyPr>
          <a:lstStyle/>
          <a:p>
            <a:r>
              <a:rPr lang="en-US"/>
              <a:t>API TESTING VIDEO LINK:</a:t>
            </a:r>
            <a:r>
              <a:rPr lang="en-US">
                <a:solidFill>
                  <a:srgbClr val="0070C0"/>
                </a:solidFill>
              </a:rPr>
              <a:t>API testing.mp4</a:t>
            </a:r>
            <a:endParaRPr lang="en-US">
              <a:solidFill>
                <a:srgbClr val="0070C0"/>
              </a:solidFill>
            </a:endParaRPr>
          </a:p>
          <a:p>
            <a:r>
              <a:rPr lang="en-US"/>
              <a:t>DEMO video </a:t>
            </a:r>
            <a:r>
              <a:rPr lang="en-US" err="1"/>
              <a:t>link:</a:t>
            </a:r>
            <a:r>
              <a:rPr lang="en-US" err="1">
                <a:solidFill>
                  <a:srgbClr val="0070C0"/>
                </a:solidFill>
              </a:rPr>
              <a:t>Backend</a:t>
            </a:r>
            <a:r>
              <a:rPr lang="en-US">
                <a:solidFill>
                  <a:srgbClr val="0070C0"/>
                </a:solidFill>
              </a:rPr>
              <a:t> demo.mp4</a:t>
            </a:r>
            <a:endParaRPr lang="en-US">
              <a:solidFill>
                <a:srgbClr val="0070C0"/>
              </a:solidFill>
            </a:endParaRPr>
          </a:p>
          <a:p>
            <a:r>
              <a:rPr lang="en-US" err="1"/>
              <a:t>codeDrive:</a:t>
            </a:r>
            <a:r>
              <a:rPr lang="en-US" err="1">
                <a:solidFill>
                  <a:srgbClr val="0070C0"/>
                </a:solidFill>
              </a:rPr>
              <a:t>code</a:t>
            </a:r>
            <a:endParaRPr lang="en-US">
              <a:solidFill>
                <a:srgbClr val="0070C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9299</Words>
  <Application>WPS Presentation</Application>
  <PresentationFormat>Custom</PresentationFormat>
  <Paragraphs>254</Paragraphs>
  <Slides>21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SimSun</vt:lpstr>
      <vt:lpstr>Wingdings</vt:lpstr>
      <vt:lpstr>-apple-system-body</vt:lpstr>
      <vt:lpstr>Liberation Mono</vt:lpstr>
      <vt:lpstr>Aptos Display</vt:lpstr>
      <vt:lpstr>Segoe UI Variable Display</vt:lpstr>
      <vt:lpstr>Aptos</vt:lpstr>
      <vt:lpstr>Segoe UI</vt:lpstr>
      <vt:lpstr>Microsoft YaHei</vt:lpstr>
      <vt:lpstr>Arial Unicode MS</vt:lpstr>
      <vt:lpstr>Calibri</vt:lpstr>
      <vt:lpstr>ui-sans-serif</vt:lpstr>
      <vt:lpstr>Office Theme</vt:lpstr>
      <vt:lpstr>                   AI FAQ Assistant API                        TEAM LEADER  :  R SHANMUGAPRIYA          TEAM MEMBER : 1.V SIVAPRIYA    TEAM MEMBER : 2.M SUBHA                     TEAM MEMBER : 3.M SURIYAKEERTHI       TEAM MEMBER : 4.S SWETHA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FAQ Assistant API                        TEAM LEADER  :  V HARINI                          TEAM MEMBER : 1.R GOPIKA                        TEAM MEMBER : 2.S DEEPA                                          TEAM MEMBER : 3.S HASEEN JUMANA                                 TEAM MEMBER : 4.P DEEPASHRI</dc:title>
  <dc:creator>Gokul Kumar</dc:creator>
  <cp:lastModifiedBy>acer</cp:lastModifiedBy>
  <cp:revision>47</cp:revision>
  <dcterms:created xsi:type="dcterms:W3CDTF">2026-09-27T04:08:00Z</dcterms:created>
  <dcterms:modified xsi:type="dcterms:W3CDTF">2026-09-30T06:49:33Z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B3D66D42D04D4117B7CFADD71E5985E6_13</vt:lpwstr>
  </property>
</Properties>
</file>